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7" y="4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Student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58" y="1600200"/>
            <a:ext cx="8592532" cy="4525963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Project </a:t>
            </a:r>
            <a:r>
              <a:rPr dirty="0" err="1"/>
              <a:t>Presentatio</a:t>
            </a:r>
            <a:r>
              <a:rPr lang="tr-TR" dirty="0"/>
              <a:t>n</a:t>
            </a:r>
            <a:endParaRPr dirty="0"/>
          </a:p>
          <a:p>
            <a:pPr marL="0" indent="0" algn="ctr">
              <a:buNone/>
            </a:pPr>
            <a:r>
              <a:rPr dirty="0"/>
              <a:t>Name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tr-TR" sz="2400" dirty="0"/>
              <a:t>2210213601</a:t>
            </a:r>
            <a:r>
              <a:rPr lang="fr-FR" sz="2400" dirty="0"/>
              <a:t> ROSTEL EBELE GENI NDOUDI</a:t>
            </a:r>
          </a:p>
          <a:p>
            <a:pPr marL="0" indent="0">
              <a:buNone/>
            </a:pPr>
            <a:r>
              <a:rPr lang="fr-FR" sz="2400" dirty="0"/>
              <a:t>2210213528 BENICHA DIVINE MANTSANGA MOUNTSO</a:t>
            </a:r>
          </a:p>
          <a:p>
            <a:pPr marL="0" indent="0">
              <a:buNone/>
            </a:pPr>
            <a:r>
              <a:rPr lang="tr-TR" sz="2400" dirty="0"/>
              <a:t>2310213519 Andy Aury GIRITEKA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b="1" dirty="0"/>
              <a:t>Student Management System</a:t>
            </a:r>
            <a:r>
              <a:rPr lang="en-US" sz="2400" dirty="0"/>
              <a:t> is a desktop application developed to efficiently manage student information in an organized and secure manner. The system allows administrators to add, update, delete, and search student records through a user-friendly interface.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rmAutofit fontScale="90000"/>
          </a:bodyPr>
          <a:lstStyle/>
          <a:p>
            <a:r>
              <a:rPr lang="fr-FR" dirty="0"/>
              <a:t>Project Architecture</a:t>
            </a:r>
            <a:br>
              <a:rPr lang="fr-FR" dirty="0"/>
            </a:br>
            <a:r>
              <a:rPr lang="fr-FR" dirty="0"/>
              <a:t>( </a:t>
            </a:r>
            <a:r>
              <a:rPr lang="fr-FR" dirty="0" err="1"/>
              <a:t>windows</a:t>
            </a:r>
            <a:r>
              <a:rPr lang="fr-FR" dirty="0"/>
              <a:t> </a:t>
            </a:r>
            <a:r>
              <a:rPr lang="fr-FR" dirty="0" err="1"/>
              <a:t>form</a:t>
            </a:r>
            <a:r>
              <a:rPr lang="fr-FR" dirty="0"/>
              <a:t> part 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. Login system </a:t>
            </a:r>
          </a:p>
          <a:p>
            <a:pPr marL="0" indent="0">
              <a:buNone/>
            </a:pPr>
            <a:r>
              <a:rPr lang="fr-FR" dirty="0"/>
              <a:t>. Main </a:t>
            </a:r>
            <a:r>
              <a:rPr lang="fr-FR" dirty="0" err="1"/>
              <a:t>form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.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form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. Course </a:t>
            </a:r>
            <a:r>
              <a:rPr lang="fr-FR" dirty="0" err="1"/>
              <a:t>form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.Score </a:t>
            </a:r>
            <a:r>
              <a:rPr lang="fr-FR" dirty="0" err="1"/>
              <a:t>form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.Exit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Login </a:t>
            </a:r>
            <a:r>
              <a:rPr lang="fr-FR" dirty="0" err="1"/>
              <a:t>form</a:t>
            </a:r>
            <a:endParaRPr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96975CA-3E41-7719-F209-DCF9F8B199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032" y="1839896"/>
            <a:ext cx="7795936" cy="4046571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SignUP</a:t>
            </a:r>
            <a:r>
              <a:rPr lang="fr-FR" dirty="0"/>
              <a:t> </a:t>
            </a:r>
            <a:endParaRPr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C038DA2-847A-4B39-FD97-3052A70A7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153" y="1600200"/>
            <a:ext cx="7675693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The user enter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identifiers</a:t>
            </a:r>
            <a:r>
              <a:rPr lang="fr-FR" dirty="0"/>
              <a:t> if </a:t>
            </a:r>
            <a:r>
              <a:rPr lang="fr-FR" dirty="0" err="1"/>
              <a:t>he’s</a:t>
            </a:r>
            <a:r>
              <a:rPr lang="fr-FR" dirty="0"/>
              <a:t> new </a:t>
            </a:r>
            <a:r>
              <a:rPr lang="fr-FR" dirty="0" err="1"/>
              <a:t>he</a:t>
            </a:r>
            <a:r>
              <a:rPr lang="fr-FR" dirty="0"/>
              <a:t> must </a:t>
            </a:r>
            <a:r>
              <a:rPr lang="fr-FR" dirty="0" err="1"/>
              <a:t>sign</a:t>
            </a:r>
            <a:r>
              <a:rPr lang="fr-FR" dirty="0"/>
              <a:t> up first.</a:t>
            </a:r>
          </a:p>
          <a:p>
            <a:r>
              <a:rPr lang="fr-FR" dirty="0" err="1"/>
              <a:t>Each</a:t>
            </a:r>
            <a:r>
              <a:rPr lang="fr-FR" dirty="0"/>
              <a:t> user </a:t>
            </a:r>
            <a:r>
              <a:rPr lang="fr-FR" dirty="0" err="1"/>
              <a:t>is</a:t>
            </a:r>
            <a:r>
              <a:rPr lang="fr-FR" dirty="0"/>
              <a:t> able to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his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can’t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them</a:t>
            </a:r>
            <a:r>
              <a:rPr lang="fr-FR" dirty="0"/>
              <a:t> but the admin user can </a:t>
            </a:r>
            <a:r>
              <a:rPr lang="fr-FR" dirty="0" err="1"/>
              <a:t>access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all of </a:t>
            </a:r>
            <a:r>
              <a:rPr lang="fr-FR" dirty="0" err="1"/>
              <a:t>them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E30F2-0366-04CD-BC02-DEE602807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215" y="556149"/>
            <a:ext cx="7772400" cy="1065261"/>
          </a:xfrm>
        </p:spPr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Form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DD0421-EC04-F95F-2B42-EF028420D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07" y="1838227"/>
            <a:ext cx="8116479" cy="4666268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419C69-093A-17EC-5A4F-EDA5D6A69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20" y="1621410"/>
            <a:ext cx="8763759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31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2E566-41DB-F1F8-2541-9A560BE06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3089"/>
            <a:ext cx="7772400" cy="801311"/>
          </a:xfrm>
        </p:spPr>
        <p:txBody>
          <a:bodyPr/>
          <a:lstStyle/>
          <a:p>
            <a:r>
              <a:rPr lang="fr-FR" dirty="0"/>
              <a:t>Description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B5E3DF-90F4-2FA0-74E0-8BBC97F8F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231" y="1225485"/>
            <a:ext cx="8644379" cy="5354424"/>
          </a:xfrm>
        </p:spPr>
        <p:txBody>
          <a:bodyPr/>
          <a:lstStyle/>
          <a:p>
            <a:pPr algn="l"/>
            <a:r>
              <a:rPr lang="fr-FR" dirty="0">
                <a:solidFill>
                  <a:schemeClr val="tx1"/>
                </a:solidFill>
              </a:rPr>
              <a:t>This </a:t>
            </a:r>
            <a:r>
              <a:rPr lang="fr-FR" dirty="0" err="1">
                <a:solidFill>
                  <a:schemeClr val="tx1"/>
                </a:solidFill>
              </a:rPr>
              <a:t>is</a:t>
            </a:r>
            <a:r>
              <a:rPr lang="fr-FR" dirty="0">
                <a:solidFill>
                  <a:schemeClr val="tx1"/>
                </a:solidFill>
              </a:rPr>
              <a:t> the main menu of </a:t>
            </a:r>
            <a:r>
              <a:rPr lang="fr-FR" dirty="0" err="1">
                <a:solidFill>
                  <a:schemeClr val="tx1"/>
                </a:solidFill>
              </a:rPr>
              <a:t>our</a:t>
            </a:r>
            <a:r>
              <a:rPr lang="fr-FR" dirty="0">
                <a:solidFill>
                  <a:schemeClr val="tx1"/>
                </a:solidFill>
              </a:rPr>
              <a:t> program </a:t>
            </a:r>
            <a:r>
              <a:rPr lang="fr-FR" dirty="0" err="1">
                <a:solidFill>
                  <a:schemeClr val="tx1"/>
                </a:solidFill>
              </a:rPr>
              <a:t>we</a:t>
            </a:r>
            <a:r>
              <a:rPr lang="fr-FR" dirty="0">
                <a:solidFill>
                  <a:schemeClr val="tx1"/>
                </a:solidFill>
              </a:rPr>
              <a:t> can </a:t>
            </a:r>
            <a:r>
              <a:rPr lang="fr-FR" dirty="0" err="1">
                <a:solidFill>
                  <a:schemeClr val="tx1"/>
                </a:solidFill>
              </a:rPr>
              <a:t>see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name</a:t>
            </a:r>
            <a:r>
              <a:rPr lang="fr-FR" dirty="0">
                <a:solidFill>
                  <a:schemeClr val="tx1"/>
                </a:solidFill>
              </a:rPr>
              <a:t> of the user </a:t>
            </a:r>
            <a:r>
              <a:rPr lang="fr-FR" dirty="0" err="1">
                <a:solidFill>
                  <a:schemeClr val="tx1"/>
                </a:solidFill>
              </a:rPr>
              <a:t>upstaire</a:t>
            </a:r>
            <a:r>
              <a:rPr lang="fr-FR" dirty="0">
                <a:solidFill>
                  <a:schemeClr val="tx1"/>
                </a:solidFill>
              </a:rPr>
              <a:t> and down </a:t>
            </a:r>
            <a:r>
              <a:rPr lang="fr-FR" dirty="0" err="1">
                <a:solidFill>
                  <a:schemeClr val="tx1"/>
                </a:solidFill>
              </a:rPr>
              <a:t>staire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we</a:t>
            </a:r>
            <a:r>
              <a:rPr lang="fr-FR" dirty="0">
                <a:solidFill>
                  <a:schemeClr val="tx1"/>
                </a:solidFill>
              </a:rPr>
              <a:t> can </a:t>
            </a:r>
            <a:r>
              <a:rPr lang="fr-FR" dirty="0" err="1">
                <a:solidFill>
                  <a:schemeClr val="tx1"/>
                </a:solidFill>
              </a:rPr>
              <a:t>search</a:t>
            </a:r>
            <a:r>
              <a:rPr lang="fr-FR" dirty="0">
                <a:solidFill>
                  <a:schemeClr val="tx1"/>
                </a:solidFill>
              </a:rPr>
              <a:t> for a class and know the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student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their</a:t>
            </a:r>
            <a:r>
              <a:rPr lang="fr-FR" dirty="0">
                <a:solidFill>
                  <a:schemeClr val="tx1"/>
                </a:solidFill>
              </a:rPr>
              <a:t> and </a:t>
            </a:r>
            <a:r>
              <a:rPr lang="fr-FR" dirty="0" err="1">
                <a:solidFill>
                  <a:schemeClr val="tx1"/>
                </a:solidFill>
              </a:rPr>
              <a:t>see</a:t>
            </a:r>
            <a:r>
              <a:rPr lang="fr-FR" dirty="0">
                <a:solidFill>
                  <a:schemeClr val="tx1"/>
                </a:solidFill>
              </a:rPr>
              <a:t> the total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studednt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tou</a:t>
            </a:r>
            <a:r>
              <a:rPr lang="fr-FR" dirty="0">
                <a:solidFill>
                  <a:schemeClr val="tx1"/>
                </a:solidFill>
              </a:rPr>
              <a:t> can </a:t>
            </a:r>
            <a:r>
              <a:rPr lang="fr-FR" dirty="0" err="1">
                <a:solidFill>
                  <a:schemeClr val="tx1"/>
                </a:solidFill>
              </a:rPr>
              <a:t>also</a:t>
            </a:r>
            <a:r>
              <a:rPr lang="fr-FR" dirty="0">
                <a:solidFill>
                  <a:schemeClr val="tx1"/>
                </a:solidFill>
              </a:rPr>
              <a:t> select if </a:t>
            </a:r>
            <a:r>
              <a:rPr lang="fr-FR" dirty="0" err="1">
                <a:solidFill>
                  <a:schemeClr val="tx1"/>
                </a:solidFill>
              </a:rPr>
              <a:t>you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just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want</a:t>
            </a:r>
            <a:r>
              <a:rPr lang="fr-FR" dirty="0">
                <a:solidFill>
                  <a:schemeClr val="tx1"/>
                </a:solidFill>
              </a:rPr>
              <a:t> the </a:t>
            </a:r>
            <a:r>
              <a:rPr lang="fr-FR" dirty="0" err="1">
                <a:solidFill>
                  <a:schemeClr val="tx1"/>
                </a:solidFill>
              </a:rPr>
              <a:t>number</a:t>
            </a:r>
            <a:r>
              <a:rPr lang="fr-FR" dirty="0">
                <a:solidFill>
                  <a:schemeClr val="tx1"/>
                </a:solidFill>
              </a:rPr>
              <a:t> of </a:t>
            </a:r>
            <a:r>
              <a:rPr lang="fr-FR" dirty="0" err="1">
                <a:solidFill>
                  <a:schemeClr val="tx1"/>
                </a:solidFill>
              </a:rPr>
              <a:t>femal</a:t>
            </a:r>
            <a:r>
              <a:rPr lang="fr-FR" dirty="0">
                <a:solidFill>
                  <a:schemeClr val="tx1"/>
                </a:solidFill>
              </a:rPr>
              <a:t> or male.</a:t>
            </a:r>
          </a:p>
          <a:p>
            <a:pPr algn="l"/>
            <a:r>
              <a:rPr lang="fr-FR" dirty="0">
                <a:solidFill>
                  <a:schemeClr val="tx1"/>
                </a:solidFill>
              </a:rPr>
              <a:t>On the </a:t>
            </a:r>
            <a:r>
              <a:rPr lang="fr-FR" dirty="0" err="1">
                <a:solidFill>
                  <a:schemeClr val="tx1"/>
                </a:solidFill>
              </a:rPr>
              <a:t>left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we</a:t>
            </a:r>
            <a:r>
              <a:rPr lang="fr-FR" dirty="0">
                <a:solidFill>
                  <a:schemeClr val="tx1"/>
                </a:solidFill>
              </a:rPr>
              <a:t> have : </a:t>
            </a:r>
            <a:r>
              <a:rPr lang="fr-FR" dirty="0" err="1">
                <a:solidFill>
                  <a:schemeClr val="tx1"/>
                </a:solidFill>
              </a:rPr>
              <a:t>Student</a:t>
            </a:r>
            <a:r>
              <a:rPr lang="fr-FR" dirty="0">
                <a:solidFill>
                  <a:schemeClr val="tx1"/>
                </a:solidFill>
              </a:rPr>
              <a:t>, course , score, </a:t>
            </a:r>
            <a:r>
              <a:rPr lang="fr-FR" dirty="0" err="1">
                <a:solidFill>
                  <a:schemeClr val="tx1"/>
                </a:solidFill>
              </a:rPr>
              <a:t>dashborad</a:t>
            </a:r>
            <a:r>
              <a:rPr lang="fr-FR" dirty="0">
                <a:solidFill>
                  <a:schemeClr val="tx1"/>
                </a:solidFill>
              </a:rPr>
              <a:t> and exit.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97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A89C7-03F8-6DB7-36A7-D0681BDF8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055" y="197931"/>
            <a:ext cx="7772400" cy="810738"/>
          </a:xfrm>
        </p:spPr>
        <p:txBody>
          <a:bodyPr/>
          <a:lstStyle/>
          <a:p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form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266EDB-BE25-1C5F-8F14-16BED03AE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309" y="1020452"/>
            <a:ext cx="8187180" cy="5521749"/>
          </a:xfrm>
        </p:spPr>
        <p:txBody>
          <a:bodyPr/>
          <a:lstStyle/>
          <a:p>
            <a:pPr algn="l"/>
            <a:r>
              <a:rPr lang="fr-FR" dirty="0">
                <a:solidFill>
                  <a:schemeClr val="tx1"/>
                </a:solidFill>
              </a:rPr>
              <a:t>1- </a:t>
            </a:r>
            <a:r>
              <a:rPr lang="fr-FR" dirty="0" err="1">
                <a:solidFill>
                  <a:schemeClr val="tx1"/>
                </a:solidFill>
              </a:rPr>
              <a:t>Student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register</a:t>
            </a:r>
            <a:endParaRPr lang="fr-FR" dirty="0">
              <a:solidFill>
                <a:schemeClr val="tx1"/>
              </a:solidFill>
            </a:endParaRPr>
          </a:p>
          <a:p>
            <a:pPr algn="l"/>
            <a:endParaRPr lang="tr-T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2597D0-A5E4-27D5-BAA8-4265E240C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79" y="1631037"/>
            <a:ext cx="7171041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6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937FE-7CBF-72EB-DA31-A1CCC1208C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42" y="471308"/>
            <a:ext cx="7772400" cy="5345030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It is used to </a:t>
            </a:r>
            <a:r>
              <a:rPr lang="en-US" sz="3200" b="1" dirty="0"/>
              <a:t>register a new student</a:t>
            </a:r>
            <a:r>
              <a:rPr lang="en-US" sz="3200" dirty="0"/>
              <a:t> in the system.</a:t>
            </a:r>
            <a:br>
              <a:rPr lang="en-US" sz="3200" dirty="0"/>
            </a:br>
            <a:r>
              <a:rPr lang="en-US" sz="3200" dirty="0"/>
              <a:t>The user fills in the student’s information such as </a:t>
            </a:r>
            <a:r>
              <a:rPr lang="en-US" sz="3200" b="1" dirty="0"/>
              <a:t>first name, last name, phone number, date of birth, gender, and address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A photo can also be uploaded using the </a:t>
            </a:r>
            <a:r>
              <a:rPr lang="en-US" sz="3200" b="1" dirty="0"/>
              <a:t>Upload</a:t>
            </a:r>
            <a:r>
              <a:rPr lang="en-US" sz="3200" dirty="0"/>
              <a:t> button.</a:t>
            </a:r>
            <a:br>
              <a:rPr lang="en-US" sz="3200" dirty="0"/>
            </a:br>
            <a:r>
              <a:rPr lang="en-US" sz="3200" dirty="0"/>
              <a:t>The </a:t>
            </a:r>
            <a:r>
              <a:rPr lang="en-US" sz="3200" b="1" dirty="0"/>
              <a:t>Add</a:t>
            </a:r>
            <a:r>
              <a:rPr lang="en-US" sz="3200" dirty="0"/>
              <a:t> button saves the student’s information, while the </a:t>
            </a:r>
            <a:r>
              <a:rPr lang="en-US" sz="3200" b="1" dirty="0"/>
              <a:t>Clear</a:t>
            </a:r>
            <a:r>
              <a:rPr lang="en-US" sz="3200" dirty="0"/>
              <a:t> button resets the form.</a:t>
            </a:r>
          </a:p>
        </p:txBody>
      </p:sp>
    </p:spTree>
    <p:extLst>
      <p:ext uri="{BB962C8B-B14F-4D97-AF65-F5344CB8AC3E}">
        <p14:creationId xmlns:p14="http://schemas.microsoft.com/office/powerpoint/2010/main" val="2352330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BCBF2-D320-F21F-480D-0D91EFD07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29905"/>
            <a:ext cx="7772400" cy="961567"/>
          </a:xfrm>
        </p:spPr>
        <p:txBody>
          <a:bodyPr/>
          <a:lstStyle/>
          <a:p>
            <a:r>
              <a:rPr lang="fr-FR" dirty="0"/>
              <a:t>2- </a:t>
            </a:r>
            <a:r>
              <a:rPr lang="fr-FR" dirty="0" err="1"/>
              <a:t>Student</a:t>
            </a:r>
            <a:r>
              <a:rPr lang="fr-FR" dirty="0"/>
              <a:t> manager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F5DD4EF-4E82-C560-8435-48FB0A6F5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487" y="1291472"/>
            <a:ext cx="8005713" cy="4967926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9325616-12FA-BF52-5E10-DF58FEC2A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0" y="1291472"/>
            <a:ext cx="7239627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91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222198-A44A-A774-0DB0-43FAF9479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593" y="301625"/>
            <a:ext cx="7772400" cy="5241336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/>
              <a:t>It’s used to upload student data.</a:t>
            </a:r>
            <a:br>
              <a:rPr lang="en-US" sz="3200" dirty="0"/>
            </a:br>
            <a:r>
              <a:rPr lang="en-US" sz="3200" dirty="0"/>
              <a:t>At the top, there is a </a:t>
            </a:r>
            <a:r>
              <a:rPr lang="en-US" sz="3200" b="1" dirty="0"/>
              <a:t>search bar</a:t>
            </a:r>
            <a:r>
              <a:rPr lang="en-US" sz="3200" dirty="0"/>
              <a:t> that allows the user to search for a student.</a:t>
            </a:r>
            <a:br>
              <a:rPr lang="en-US" sz="3200" dirty="0"/>
            </a:br>
            <a:r>
              <a:rPr lang="en-US" sz="3200" dirty="0"/>
              <a:t>The data </a:t>
            </a:r>
            <a:r>
              <a:rPr lang="en-US" sz="3200" dirty="0" err="1"/>
              <a:t>gridview</a:t>
            </a:r>
            <a:r>
              <a:rPr lang="en-US" sz="3200" dirty="0"/>
              <a:t> displays the list of students.</a:t>
            </a:r>
            <a:br>
              <a:rPr lang="en-US" sz="3200" dirty="0"/>
            </a:br>
            <a:r>
              <a:rPr lang="en-US" sz="3200" dirty="0"/>
              <a:t>At the bottom, there is a form to update or modify student information, including </a:t>
            </a:r>
            <a:r>
              <a:rPr lang="en-US" sz="3200" b="1" dirty="0"/>
              <a:t>first name, last name, phone number, date of birth, gender, address, and student ID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You can also delete a student when you select him.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54624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C96A96-05C5-3871-95A3-F0CCAFC65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691" y="188503"/>
            <a:ext cx="7772400" cy="1470025"/>
          </a:xfrm>
        </p:spPr>
        <p:txBody>
          <a:bodyPr/>
          <a:lstStyle/>
          <a:p>
            <a:r>
              <a:rPr lang="fr-FR" dirty="0"/>
              <a:t>3- </a:t>
            </a:r>
            <a:r>
              <a:rPr lang="fr-FR" dirty="0" err="1"/>
              <a:t>student</a:t>
            </a:r>
            <a:r>
              <a:rPr lang="fr-FR" dirty="0"/>
              <a:t> </a:t>
            </a:r>
            <a:r>
              <a:rPr lang="fr-FR" dirty="0" err="1"/>
              <a:t>print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5491550-A899-2173-E717-8DB750F4B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219" y="1536569"/>
            <a:ext cx="8597245" cy="5132928"/>
          </a:xfrm>
        </p:spPr>
        <p:txBody>
          <a:bodyPr/>
          <a:lstStyle/>
          <a:p>
            <a:endParaRPr lang="tr-T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BD4CA1-14ED-4DAB-DA80-8291BC323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91" y="1658528"/>
            <a:ext cx="8279091" cy="468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772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F0C133-A11C-F180-8165-675CF6006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879" y="1489435"/>
            <a:ext cx="6714241" cy="2818615"/>
          </a:xfrm>
        </p:spPr>
        <p:txBody>
          <a:bodyPr>
            <a:noAutofit/>
          </a:bodyPr>
          <a:lstStyle/>
          <a:p>
            <a:r>
              <a:rPr lang="en-US" sz="2800" dirty="0"/>
              <a:t>This window is used to print the students displayed in the </a:t>
            </a:r>
            <a:r>
              <a:rPr lang="en-US" sz="2800" dirty="0" err="1"/>
              <a:t>DataGridView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Two types of filters are available: a search bar and a gender filter.</a:t>
            </a:r>
            <a:br>
              <a:rPr lang="en-US" sz="2800" dirty="0"/>
            </a:br>
            <a:r>
              <a:rPr lang="en-US" sz="2800" dirty="0"/>
              <a:t>Both filters can be used at the same time.</a:t>
            </a:r>
            <a:endParaRPr lang="tr-TR" sz="2800" dirty="0"/>
          </a:p>
        </p:txBody>
      </p:sp>
    </p:spTree>
    <p:extLst>
      <p:ext uri="{BB962C8B-B14F-4D97-AF65-F5344CB8AC3E}">
        <p14:creationId xmlns:p14="http://schemas.microsoft.com/office/powerpoint/2010/main" val="2595006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B6551-5905-0D34-FC8B-A2A2CCF6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422187"/>
          </a:xfrm>
        </p:spPr>
        <p:txBody>
          <a:bodyPr>
            <a:normAutofit fontScale="90000"/>
          </a:bodyPr>
          <a:lstStyle/>
          <a:p>
            <a:r>
              <a:rPr lang="fr-FR" dirty="0"/>
              <a:t>Course </a:t>
            </a:r>
            <a:r>
              <a:rPr lang="fr-FR" dirty="0" err="1"/>
              <a:t>form</a:t>
            </a:r>
            <a:br>
              <a:rPr lang="fr-FR" dirty="0"/>
            </a:br>
            <a:r>
              <a:rPr lang="fr-FR" dirty="0"/>
              <a:t>1- New corse</a:t>
            </a:r>
            <a:endParaRPr lang="tr-T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122245F-C858-C158-038D-F179EA0AD5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057399"/>
            <a:ext cx="8036009" cy="4525963"/>
          </a:xfrm>
        </p:spPr>
      </p:pic>
    </p:spTree>
    <p:extLst>
      <p:ext uri="{BB962C8B-B14F-4D97-AF65-F5344CB8AC3E}">
        <p14:creationId xmlns:p14="http://schemas.microsoft.com/office/powerpoint/2010/main" val="355381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7FE82-23C4-A6D7-0D43-5ED94288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629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window is used to create courses.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DataGridView</a:t>
            </a:r>
            <a:r>
              <a:rPr lang="en-US" dirty="0"/>
              <a:t> displays the list of courses.</a:t>
            </a:r>
            <a:br>
              <a:rPr lang="en-US" dirty="0"/>
            </a:br>
            <a:r>
              <a:rPr lang="en-US" dirty="0"/>
              <a:t>At the bottom, there is a form to add or clear course information, such as the </a:t>
            </a:r>
            <a:r>
              <a:rPr lang="en-US" b="1" dirty="0"/>
              <a:t>course name, number of hours, and description</a:t>
            </a:r>
            <a:r>
              <a:rPr lang="en-US" dirty="0"/>
              <a:t>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90427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8925FC-82AB-175D-FA73-6D5306C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Course management</a:t>
            </a:r>
            <a:endParaRPr lang="tr-T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5DC45A4-F828-BA0B-5BDF-A166F531E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756" y="1600200"/>
            <a:ext cx="8098487" cy="4525963"/>
          </a:xfrm>
        </p:spPr>
      </p:pic>
    </p:spTree>
    <p:extLst>
      <p:ext uri="{BB962C8B-B14F-4D97-AF65-F5344CB8AC3E}">
        <p14:creationId xmlns:p14="http://schemas.microsoft.com/office/powerpoint/2010/main" val="3552715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8072B6F-1F06-146B-C748-5FA67DA3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4236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window is used to manage course data.</a:t>
            </a:r>
            <a:br>
              <a:rPr lang="en-US" dirty="0"/>
            </a:br>
            <a:r>
              <a:rPr lang="en-US" dirty="0"/>
              <a:t>At the top, there is a search bar that allows the user to search for a course.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DataGridView</a:t>
            </a:r>
            <a:r>
              <a:rPr lang="en-US" dirty="0"/>
              <a:t> displays the list of courses.</a:t>
            </a:r>
            <a:br>
              <a:rPr lang="en-US" dirty="0"/>
            </a:br>
            <a:r>
              <a:rPr lang="en-US" dirty="0"/>
              <a:t>At the bottom, there is a form to update course information.</a:t>
            </a:r>
            <a:br>
              <a:rPr lang="en-US" dirty="0"/>
            </a:br>
            <a:r>
              <a:rPr lang="en-US" dirty="0"/>
              <a:t>A course can also be deleted after selecting it.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721867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46B547-B622-F80A-047B-78602363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3-print course</a:t>
            </a:r>
            <a:endParaRPr lang="tr-T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068ACDE-A870-2E2E-EF77-9A7C96041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31772"/>
            <a:ext cx="8229600" cy="4462818"/>
          </a:xfrm>
        </p:spPr>
      </p:pic>
    </p:spTree>
    <p:extLst>
      <p:ext uri="{BB962C8B-B14F-4D97-AF65-F5344CB8AC3E}">
        <p14:creationId xmlns:p14="http://schemas.microsoft.com/office/powerpoint/2010/main" val="2782131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800B23-56D9-D507-47A8-A709B54C9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This </a:t>
            </a:r>
            <a:r>
              <a:rPr lang="fr-FR" dirty="0" err="1"/>
              <a:t>window</a:t>
            </a:r>
            <a:r>
              <a:rPr lang="fr-FR" dirty="0"/>
              <a:t> </a:t>
            </a:r>
            <a:r>
              <a:rPr lang="fr-FR" dirty="0" err="1"/>
              <a:t>print</a:t>
            </a:r>
            <a:r>
              <a:rPr lang="fr-FR" dirty="0"/>
              <a:t> the course display in the data </a:t>
            </a:r>
            <a:r>
              <a:rPr lang="fr-FR" dirty="0" err="1"/>
              <a:t>gridview</a:t>
            </a:r>
            <a:r>
              <a:rPr lang="fr-FR" dirty="0"/>
              <a:t> .</a:t>
            </a:r>
          </a:p>
          <a:p>
            <a:r>
              <a:rPr lang="fr-FR" dirty="0"/>
              <a:t>You can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filter</a:t>
            </a:r>
            <a:r>
              <a:rPr lang="fr-FR" dirty="0"/>
              <a:t> by </a:t>
            </a:r>
            <a:r>
              <a:rPr lang="fr-FR" dirty="0" err="1"/>
              <a:t>seaching</a:t>
            </a:r>
            <a:r>
              <a:rPr lang="fr-FR" dirty="0"/>
              <a:t> a </a:t>
            </a:r>
            <a:r>
              <a:rPr lang="fr-FR" dirty="0" err="1"/>
              <a:t>specific</a:t>
            </a:r>
            <a:r>
              <a:rPr lang="fr-FR" dirty="0"/>
              <a:t> one.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974774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B94CF-6C60-E5D6-BADB-7CCEEB08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Score </a:t>
            </a:r>
            <a:r>
              <a:rPr lang="fr-FR" dirty="0" err="1"/>
              <a:t>form</a:t>
            </a:r>
            <a:br>
              <a:rPr lang="fr-FR" dirty="0"/>
            </a:br>
            <a:r>
              <a:rPr lang="fr-FR" dirty="0"/>
              <a:t>1- New score</a:t>
            </a:r>
            <a:endParaRPr lang="tr-T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0B1F23A-FE2B-FFE5-0B1E-9CCAB85575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3059" y="1930138"/>
            <a:ext cx="8037881" cy="4525963"/>
          </a:xfrm>
        </p:spPr>
      </p:pic>
    </p:spTree>
    <p:extLst>
      <p:ext uri="{BB962C8B-B14F-4D97-AF65-F5344CB8AC3E}">
        <p14:creationId xmlns:p14="http://schemas.microsoft.com/office/powerpoint/2010/main" val="3731282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17BAFA-5347-5761-5D22-E69B19A9C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window is used to load student scores for a course.</a:t>
            </a:r>
            <a:br>
              <a:rPr lang="en-US" dirty="0"/>
            </a:br>
            <a:r>
              <a:rPr lang="en-US" dirty="0"/>
              <a:t>There are two options for filter: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only student information: </a:t>
            </a:r>
            <a:r>
              <a:rPr lang="en-US" b="1" dirty="0"/>
              <a:t>ID, name, and first name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Display student scores: </a:t>
            </a:r>
            <a:r>
              <a:rPr lang="en-US" b="1" dirty="0"/>
              <a:t>ID, name, surname, class name, score, and appreciation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840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A2C92A-6193-B8DA-FFD9-1D3D3D40D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2- Score management</a:t>
            </a:r>
            <a:endParaRPr lang="tr-T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BBBCDE4-A7D8-18F5-FB8D-FA471E589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678" y="1600200"/>
            <a:ext cx="7968644" cy="4525963"/>
          </a:xfrm>
        </p:spPr>
      </p:pic>
    </p:spTree>
    <p:extLst>
      <p:ext uri="{BB962C8B-B14F-4D97-AF65-F5344CB8AC3E}">
        <p14:creationId xmlns:p14="http://schemas.microsoft.com/office/powerpoint/2010/main" val="2482985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FB5FB-C7A1-0239-590D-FC8A80879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58" y="1415282"/>
            <a:ext cx="8229600" cy="3154362"/>
          </a:xfrm>
        </p:spPr>
        <p:txBody>
          <a:bodyPr>
            <a:normAutofit/>
          </a:bodyPr>
          <a:lstStyle/>
          <a:p>
            <a:r>
              <a:rPr lang="fr-FR" sz="3600" dirty="0"/>
              <a:t>Like for </a:t>
            </a:r>
            <a:r>
              <a:rPr lang="fr-FR" sz="3600" dirty="0" err="1"/>
              <a:t>previous</a:t>
            </a:r>
            <a:r>
              <a:rPr lang="fr-FR" sz="3600" dirty="0"/>
              <a:t> management </a:t>
            </a:r>
            <a:r>
              <a:rPr lang="fr-FR" sz="3600" dirty="0" err="1"/>
              <a:t>form</a:t>
            </a:r>
            <a:r>
              <a:rPr lang="fr-FR" sz="3600" dirty="0"/>
              <a:t> </a:t>
            </a:r>
            <a:r>
              <a:rPr lang="fr-FR" sz="3600" dirty="0" err="1"/>
              <a:t>here</a:t>
            </a:r>
            <a:r>
              <a:rPr lang="fr-FR" sz="3600" dirty="0"/>
              <a:t> </a:t>
            </a:r>
            <a:r>
              <a:rPr lang="fr-FR" sz="3600" dirty="0" err="1"/>
              <a:t>you</a:t>
            </a:r>
            <a:r>
              <a:rPr lang="fr-FR" sz="3600" dirty="0"/>
              <a:t> can </a:t>
            </a:r>
            <a:r>
              <a:rPr lang="fr-FR" sz="3600" dirty="0" err="1"/>
              <a:t>upload</a:t>
            </a:r>
            <a:r>
              <a:rPr lang="fr-FR" sz="3600" dirty="0"/>
              <a:t> a score </a:t>
            </a:r>
            <a:r>
              <a:rPr lang="fr-FR" sz="3600" dirty="0" err="1"/>
              <a:t>depend</a:t>
            </a:r>
            <a:r>
              <a:rPr lang="fr-FR" sz="3600" dirty="0"/>
              <a:t> on </a:t>
            </a:r>
            <a:r>
              <a:rPr lang="fr-FR" sz="3600" dirty="0" err="1"/>
              <a:t>their</a:t>
            </a:r>
            <a:r>
              <a:rPr lang="fr-FR" sz="3600" dirty="0"/>
              <a:t> cours.</a:t>
            </a:r>
            <a:br>
              <a:rPr lang="fr-FR" sz="3600" dirty="0"/>
            </a:br>
            <a:r>
              <a:rPr lang="fr-FR" sz="3600" dirty="0"/>
              <a:t>You can </a:t>
            </a:r>
            <a:r>
              <a:rPr lang="fr-FR" sz="3600" dirty="0" err="1"/>
              <a:t>also</a:t>
            </a:r>
            <a:r>
              <a:rPr lang="fr-FR" sz="3600" dirty="0"/>
              <a:t> </a:t>
            </a:r>
            <a:r>
              <a:rPr lang="fr-FR" sz="3600" dirty="0" err="1"/>
              <a:t>delete</a:t>
            </a:r>
            <a:r>
              <a:rPr lang="fr-FR" sz="3600" dirty="0"/>
              <a:t> </a:t>
            </a:r>
            <a:r>
              <a:rPr lang="fr-FR" sz="3600" dirty="0" err="1"/>
              <a:t>them</a:t>
            </a:r>
            <a:r>
              <a:rPr lang="fr-FR" sz="3600" dirty="0"/>
              <a:t>.</a:t>
            </a:r>
            <a:endParaRPr lang="tr-TR" sz="3600" dirty="0"/>
          </a:p>
        </p:txBody>
      </p:sp>
    </p:spTree>
    <p:extLst>
      <p:ext uri="{BB962C8B-B14F-4D97-AF65-F5344CB8AC3E}">
        <p14:creationId xmlns:p14="http://schemas.microsoft.com/office/powerpoint/2010/main" val="486461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DC73D1-946F-56ED-C6B0-BBF04AB9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3- </a:t>
            </a:r>
            <a:r>
              <a:rPr lang="fr-FR" dirty="0" err="1"/>
              <a:t>Print</a:t>
            </a:r>
            <a:r>
              <a:rPr lang="fr-FR" dirty="0"/>
              <a:t> Score</a:t>
            </a:r>
            <a:endParaRPr lang="tr-T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3D59BD8-B7E8-7480-7B62-6382FFBA8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55" y="1531229"/>
            <a:ext cx="8229600" cy="465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16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1367F-6F61-FDE4-E1CE-0F680EF6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032654"/>
          </a:xfrm>
        </p:spPr>
        <p:txBody>
          <a:bodyPr>
            <a:normAutofit/>
          </a:bodyPr>
          <a:lstStyle/>
          <a:p>
            <a:r>
              <a:rPr lang="en-US" sz="3200" dirty="0"/>
              <a:t>Similar to the previous print form, this window is used to generate printed reports of student scores displayed in the </a:t>
            </a:r>
            <a:r>
              <a:rPr lang="en-US" sz="3200" dirty="0" err="1"/>
              <a:t>DataGridView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The user can select a specific course to filter and print the corresponding student score data.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1762952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F3FFF-8740-DA8A-CEE4-DC786C45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87176"/>
          </a:xfrm>
        </p:spPr>
        <p:txBody>
          <a:bodyPr>
            <a:normAutofit/>
          </a:bodyPr>
          <a:lstStyle/>
          <a:p>
            <a:r>
              <a:rPr lang="en-US" sz="3200" b="1" dirty="0"/>
              <a:t>Dashboard</a:t>
            </a:r>
            <a:r>
              <a:rPr lang="en-US" sz="3200" dirty="0"/>
              <a:t>: Used to return to the main menu.</a:t>
            </a:r>
            <a:br>
              <a:rPr lang="en-US" sz="3200" dirty="0"/>
            </a:br>
            <a:br>
              <a:rPr lang="en-US" sz="3200" dirty="0"/>
            </a:br>
            <a:r>
              <a:rPr lang="en-US" sz="3200" b="1" dirty="0"/>
              <a:t>Exit</a:t>
            </a:r>
            <a:r>
              <a:rPr lang="en-US" sz="3200" dirty="0"/>
              <a:t>: Brings the user back to the login page.</a:t>
            </a: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19125088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5B703A-45D9-6756-F846-77A62EE8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fr-FR" dirty="0"/>
              <a:t>Data base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123394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2CA587-827E-E9E0-DFE5-58DDA1BD9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551688"/>
            <a:ext cx="7772400" cy="5754623"/>
          </a:xfrm>
        </p:spPr>
        <p:txBody>
          <a:bodyPr>
            <a:normAutofit/>
          </a:bodyPr>
          <a:lstStyle/>
          <a:p>
            <a:r>
              <a:rPr lang="en-US" dirty="0"/>
              <a:t>For database creation and execution,  we’ve used </a:t>
            </a:r>
            <a:r>
              <a:rPr lang="en-US" dirty="0" err="1"/>
              <a:t>mysql</a:t>
            </a:r>
            <a:r>
              <a:rPr lang="en-US" dirty="0"/>
              <a:t> and </a:t>
            </a:r>
            <a:r>
              <a:rPr lang="en-US" b="1" dirty="0"/>
              <a:t>XAMPP</a:t>
            </a:r>
            <a:r>
              <a:rPr lang="en-US" dirty="0"/>
              <a:t> was used as a local database management environment, providing the necessary services for local data storage and access during development.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81687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4F88A-ADBB-B3AA-C16B-B514BDCAA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9310"/>
            <a:ext cx="8229600" cy="4468050"/>
          </a:xfrm>
        </p:spPr>
        <p:txBody>
          <a:bodyPr>
            <a:normAutofit fontScale="90000"/>
          </a:bodyPr>
          <a:lstStyle/>
          <a:p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includes four database-related classes: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DbConnect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DatabaseInitializer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CourseClass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tr-TR" altLang="tr-T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DGVPrinter</a:t>
            </a: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fr-F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fr-F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These classes are integrated into the Windows Forms application using Object-Oriented Programming principles to ensure modularity and code reusability. </a:t>
            </a:r>
            <a:br>
              <a:rPr kumimoji="0" lang="tr-TR" altLang="tr-TR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10791594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3CEEC7-E361-AFC0-2AC9-C3331EA7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42835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dirty="0"/>
              <a:t>1- </a:t>
            </a:r>
            <a:r>
              <a:rPr lang="fr-FR" dirty="0" err="1"/>
              <a:t>Dbconnect</a:t>
            </a:r>
            <a:br>
              <a:rPr lang="fr-FR" dirty="0"/>
            </a:b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this class Create the connection between application and </a:t>
            </a:r>
            <a:r>
              <a:rPr lang="en-US" sz="1800" dirty="0" err="1">
                <a:highlight>
                  <a:srgbClr val="FFFFFF"/>
                </a:highlight>
                <a:latin typeface="Cascadia Mono" panose="020B0609020000020004" pitchFamily="49" charset="0"/>
              </a:rPr>
              <a:t>mysql</a:t>
            </a:r>
            <a:r>
              <a:rPr lang="en-US" sz="1800" dirty="0">
                <a:highlight>
                  <a:srgbClr val="FFFFFF"/>
                </a:highlight>
                <a:latin typeface="Cascadia Mono" panose="020B0609020000020004" pitchFamily="49" charset="0"/>
              </a:rPr>
              <a:t> database</a:t>
            </a:r>
            <a:endParaRPr lang="tr-T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58B2F2B-1CED-58EF-8C42-89C63B8BA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2" y="1861747"/>
            <a:ext cx="7257648" cy="499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981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C343C-4512-C1AF-6B15-E49E5A649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039813"/>
          </a:xfrm>
        </p:spPr>
        <p:txBody>
          <a:bodyPr/>
          <a:lstStyle/>
          <a:p>
            <a:r>
              <a:rPr lang="fr-FR" dirty="0"/>
              <a:t>2-DatabaseInitializer</a:t>
            </a:r>
            <a:endParaRPr lang="tr-T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B46DCA1-0F34-4AC0-4B75-7FB204659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3772" y="2596897"/>
            <a:ext cx="6696456" cy="2865119"/>
          </a:xfrm>
        </p:spPr>
        <p:txBody>
          <a:bodyPr/>
          <a:lstStyle/>
          <a:p>
            <a:r>
              <a:rPr lang="fr-FR" dirty="0" err="1">
                <a:solidFill>
                  <a:schemeClr val="tx1"/>
                </a:solidFill>
              </a:rPr>
              <a:t>Create</a:t>
            </a:r>
            <a:r>
              <a:rPr lang="fr-FR" dirty="0">
                <a:solidFill>
                  <a:schemeClr val="tx1"/>
                </a:solidFill>
              </a:rPr>
              <a:t> variables and </a:t>
            </a:r>
            <a:r>
              <a:rPr lang="fr-FR" dirty="0" err="1">
                <a:solidFill>
                  <a:schemeClr val="tx1"/>
                </a:solidFill>
              </a:rPr>
              <a:t>connect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them</a:t>
            </a:r>
            <a:r>
              <a:rPr lang="fr-FR" dirty="0">
                <a:solidFill>
                  <a:schemeClr val="tx1"/>
                </a:solidFill>
              </a:rPr>
              <a:t> to the </a:t>
            </a:r>
            <a:r>
              <a:rPr lang="fr-FR" dirty="0" err="1">
                <a:solidFill>
                  <a:schemeClr val="tx1"/>
                </a:solidFill>
              </a:rPr>
              <a:t>mysql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database</a:t>
            </a:r>
            <a:r>
              <a:rPr lang="fr-FR" dirty="0">
                <a:solidFill>
                  <a:schemeClr val="tx1"/>
                </a:solidFill>
              </a:rPr>
              <a:t>.</a:t>
            </a:r>
          </a:p>
          <a:p>
            <a:r>
              <a:rPr lang="fr-FR" dirty="0" err="1">
                <a:solidFill>
                  <a:schemeClr val="tx1"/>
                </a:solidFill>
              </a:rPr>
              <a:t>Create</a:t>
            </a:r>
            <a:r>
              <a:rPr lang="fr-FR" dirty="0">
                <a:solidFill>
                  <a:schemeClr val="tx1"/>
                </a:solidFill>
              </a:rPr>
              <a:t> tables </a:t>
            </a:r>
            <a:r>
              <a:rPr lang="fr-FR" dirty="0" err="1">
                <a:solidFill>
                  <a:schemeClr val="tx1"/>
                </a:solidFill>
              </a:rPr>
              <a:t>that’ll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</a:t>
            </a:r>
            <a:r>
              <a:rPr lang="fr-FR" dirty="0">
                <a:solidFill>
                  <a:schemeClr val="tx1"/>
                </a:solidFill>
              </a:rPr>
              <a:t> use in the program ( user, </a:t>
            </a:r>
            <a:r>
              <a:rPr lang="fr-FR" dirty="0" err="1">
                <a:solidFill>
                  <a:schemeClr val="tx1"/>
                </a:solidFill>
              </a:rPr>
              <a:t>student</a:t>
            </a:r>
            <a:r>
              <a:rPr lang="fr-FR" dirty="0">
                <a:solidFill>
                  <a:schemeClr val="tx1"/>
                </a:solidFill>
              </a:rPr>
              <a:t>, course, score).</a:t>
            </a:r>
          </a:p>
          <a:p>
            <a:endParaRPr lang="fr-FR" dirty="0"/>
          </a:p>
          <a:p>
            <a:endParaRPr lang="fr-F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94327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354C7-4924-BB72-EB97-1375F4EF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3- </a:t>
            </a:r>
            <a:r>
              <a:rPr lang="fr-FR" dirty="0" err="1"/>
              <a:t>CourseClass</a:t>
            </a:r>
            <a:endParaRPr lang="tr-T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4C8ABA-2DFC-DF16-7E9E-4899BB387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This class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object</a:t>
            </a:r>
            <a:r>
              <a:rPr lang="fr-FR" dirty="0"/>
              <a:t> and fonctions for cours </a:t>
            </a:r>
            <a:r>
              <a:rPr lang="fr-FR" dirty="0" err="1"/>
              <a:t>form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8550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C731D-AC47-BD89-7DFA-1CB07959E8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60" y="240665"/>
            <a:ext cx="7772400" cy="1868551"/>
          </a:xfrm>
        </p:spPr>
        <p:txBody>
          <a:bodyPr>
            <a:noAutofit/>
          </a:bodyPr>
          <a:lstStyle/>
          <a:p>
            <a:r>
              <a:rPr lang="en-US" sz="2400" b="1" dirty="0" err="1"/>
              <a:t>DGVPrinter</a:t>
            </a:r>
            <a:r>
              <a:rPr lang="en-US" sz="2400" dirty="0"/>
              <a:t> is a </a:t>
            </a:r>
            <a:r>
              <a:rPr lang="en-US" sz="2400" b="1" dirty="0"/>
              <a:t>utility class</a:t>
            </a:r>
            <a:r>
              <a:rPr lang="en-US" sz="2400" dirty="0"/>
              <a:t> used in </a:t>
            </a:r>
            <a:r>
              <a:rPr lang="en-US" sz="2400" b="1" dirty="0"/>
              <a:t>Windows Forms applications</a:t>
            </a:r>
            <a:r>
              <a:rPr lang="en-US" sz="2400" dirty="0"/>
              <a:t> to </a:t>
            </a:r>
            <a:r>
              <a:rPr lang="en-US" sz="2400" b="1" dirty="0"/>
              <a:t>print the content of a </a:t>
            </a:r>
            <a:r>
              <a:rPr lang="en-US" sz="2400" b="1" dirty="0" err="1"/>
              <a:t>DataGridView</a:t>
            </a:r>
            <a:r>
              <a:rPr lang="en-US" sz="2400" dirty="0"/>
              <a:t>.</a:t>
            </a:r>
            <a:br>
              <a:rPr lang="en-US" sz="2400" dirty="0"/>
            </a:br>
            <a:endParaRPr lang="tr-TR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482DDE-2DC2-CBD1-BA33-9AB88699207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58812" y="2528174"/>
            <a:ext cx="700995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</a:t>
            </a: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Management System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DGVPrinter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used to: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student data displayed in the DataGridView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 student scores by course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simple reports from on-screen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29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877</Words>
  <Application>Microsoft Office PowerPoint</Application>
  <PresentationFormat>Affichage à l'écran (4:3)</PresentationFormat>
  <Paragraphs>71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39" baseType="lpstr">
      <vt:lpstr>Arial</vt:lpstr>
      <vt:lpstr>Arial Unicode MS</vt:lpstr>
      <vt:lpstr>Calibri</vt:lpstr>
      <vt:lpstr>Cascadia Mono</vt:lpstr>
      <vt:lpstr>Office Theme</vt:lpstr>
      <vt:lpstr>Student Management System</vt:lpstr>
      <vt:lpstr>Introduction</vt:lpstr>
      <vt:lpstr>Project Architecture ( windows form part )</vt:lpstr>
      <vt:lpstr>Login form</vt:lpstr>
      <vt:lpstr>SignUP </vt:lpstr>
      <vt:lpstr>Description</vt:lpstr>
      <vt:lpstr>Main Form</vt:lpstr>
      <vt:lpstr>Description</vt:lpstr>
      <vt:lpstr>Student form</vt:lpstr>
      <vt:lpstr>It is used to register a new student in the system. The user fills in the student’s information such as first name, last name, phone number, date of birth, gender, and address. A photo can also be uploaded using the Upload button. The Add button saves the student’s information, while the Clear button resets the form.</vt:lpstr>
      <vt:lpstr>2- Student manager</vt:lpstr>
      <vt:lpstr>It’s used to upload student data. At the top, there is a search bar that allows the user to search for a student. The data gridview displays the list of students. At the bottom, there is a form to update or modify student information, including first name, last name, phone number, date of birth, gender, address, and student ID. You can also delete a student when you select him. </vt:lpstr>
      <vt:lpstr>3- student print</vt:lpstr>
      <vt:lpstr>This window is used to print the students displayed in the DataGridView. Two types of filters are available: a search bar and a gender filter. Both filters can be used at the same time.</vt:lpstr>
      <vt:lpstr>Course form 1- New corse</vt:lpstr>
      <vt:lpstr>Présentation PowerPoint</vt:lpstr>
      <vt:lpstr>2- Course management</vt:lpstr>
      <vt:lpstr>Présentation PowerPoint</vt:lpstr>
      <vt:lpstr>3-print course</vt:lpstr>
      <vt:lpstr>Présentation PowerPoint</vt:lpstr>
      <vt:lpstr>Score form 1- New score</vt:lpstr>
      <vt:lpstr>Présentation PowerPoint</vt:lpstr>
      <vt:lpstr>2- Score management</vt:lpstr>
      <vt:lpstr>Like for previous management form here you can upload a score depend on their cours. You can also delete them.</vt:lpstr>
      <vt:lpstr>3- Print Score</vt:lpstr>
      <vt:lpstr>Similar to the previous print form, this window is used to generate printed reports of student scores displayed in the DataGridView. The user can select a specific course to filter and print the corresponding student score data.</vt:lpstr>
      <vt:lpstr>Dashboard: Used to return to the main menu.  Exit: Brings the user back to the login page.</vt:lpstr>
      <vt:lpstr>Data base </vt:lpstr>
      <vt:lpstr>For database creation and execution,  we’ve used mysql and XAMPP was used as a local database management environment, providing the necessary services for local data storage and access during development.</vt:lpstr>
      <vt:lpstr>The project includes four database-related classes: DbConnect, DatabaseInitializer, CourseClass, and DGVPrinter.   These classes are integrated into the Windows Forms application using Object-Oriented Programming principles to ensure modularity and code reusability.  </vt:lpstr>
      <vt:lpstr>1- Dbconnect this class Create the connection between application and mysql database</vt:lpstr>
      <vt:lpstr>2-DatabaseInitializer</vt:lpstr>
      <vt:lpstr>3- CourseClass</vt:lpstr>
      <vt:lpstr>DGVPrinter is a utility class used in Windows Forms applications to print the content of a DataGridView.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</dc:title>
  <dc:subject/>
  <dc:creator/>
  <cp:keywords/>
  <dc:description>generated using python-pptx</dc:description>
  <cp:lastModifiedBy>lenovo</cp:lastModifiedBy>
  <cp:revision>10</cp:revision>
  <dcterms:created xsi:type="dcterms:W3CDTF">2013-01-27T09:14:16Z</dcterms:created>
  <dcterms:modified xsi:type="dcterms:W3CDTF">2025-12-15T19:54:50Z</dcterms:modified>
  <cp:category/>
</cp:coreProperties>
</file>